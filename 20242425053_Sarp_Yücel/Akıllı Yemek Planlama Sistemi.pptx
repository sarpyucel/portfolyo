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ileron Ultra-Bold" charset="1" panose="00000A00000000000000"/>
      <p:regular r:id="rId13"/>
    </p:embeddedFont>
    <p:embeddedFont>
      <p:font typeface="Roboto" charset="1" panose="02000000000000000000"/>
      <p:regular r:id="rId14"/>
    </p:embeddedFont>
    <p:embeddedFont>
      <p:font typeface="Roboto Bold" charset="1" panose="02000000000000000000"/>
      <p:regular r:id="rId15"/>
    </p:embeddedFont>
    <p:embeddedFont>
      <p:font typeface="Aileron Bold" charset="1" panose="00000800000000000000"/>
      <p:regular r:id="rId16"/>
    </p:embeddedFont>
    <p:embeddedFont>
      <p:font typeface="Aileron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809681" y="1504835"/>
            <a:ext cx="3237711" cy="3237711"/>
            <a:chOff x="0" y="0"/>
            <a:chExt cx="14400530" cy="14400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9261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16295438" y="1754964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6403796" y="5402609"/>
            <a:ext cx="1892551" cy="3379556"/>
          </a:xfrm>
          <a:custGeom>
            <a:avLst/>
            <a:gdLst/>
            <a:ahLst/>
            <a:cxnLst/>
            <a:rect r="r" b="b" t="t" l="l"/>
            <a:pathLst>
              <a:path h="3379556" w="1892551">
                <a:moveTo>
                  <a:pt x="0" y="0"/>
                </a:moveTo>
                <a:lnTo>
                  <a:pt x="1892551" y="0"/>
                </a:lnTo>
                <a:lnTo>
                  <a:pt x="1892551" y="3379556"/>
                </a:lnTo>
                <a:lnTo>
                  <a:pt x="0" y="3379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3076661" y="5510967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5400000">
            <a:off x="12809681" y="8082026"/>
            <a:ext cx="700140" cy="700140"/>
            <a:chOff x="1371600" y="6705600"/>
            <a:chExt cx="10972800" cy="1097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8678" y="1278516"/>
            <a:ext cx="10014000" cy="7465685"/>
            <a:chOff x="0" y="0"/>
            <a:chExt cx="13352000" cy="99542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7150"/>
              <a:ext cx="13352000" cy="6657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086"/>
                </a:lnSpc>
              </a:pPr>
              <a:r>
                <a:rPr lang="en-US" sz="1137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Akıl</a:t>
              </a:r>
              <a:r>
                <a:rPr lang="en-US" sz="1137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lı Yemek Planlama Sistemi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352570"/>
              <a:ext cx="11500538" cy="2601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lang="en-US" sz="27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azırlayan: Oğul Aydın Çözük - Sarp Yücel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Öğrenci Numarası: 20242425009 - 20242425053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Öğretim Görevlisi: Burak Evrentuğ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Ders: MBP-207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58072" y="2821585"/>
            <a:ext cx="10477019" cy="4643830"/>
            <a:chOff x="0" y="0"/>
            <a:chExt cx="13969358" cy="619177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08"/>
              <a:ext cx="13969358" cy="1621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599"/>
                </a:lnSpc>
              </a:pPr>
              <a:r>
                <a:rPr lang="en-US" sz="799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Proj</a:t>
              </a:r>
              <a:r>
                <a:rPr lang="en-US" sz="799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enin Genel Amacı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71926"/>
              <a:ext cx="13969358" cy="4238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İ</a:t>
              </a:r>
              <a:r>
                <a:rPr lang="en-US" sz="25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nsanlar kilo vermek veya almak istediklerinde ne kadar yemeleri gerektiğini tam bilemiyorlar.</a:t>
              </a:r>
            </a:p>
            <a:p>
              <a:pPr algn="l" marL="561340" indent="-280670" lvl="1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B</a:t>
              </a:r>
              <a:r>
                <a:rPr lang="en-US" sz="25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u süreci kolaylaştırmak için; kullanıcının bilgilerini alıp ona özel kalori planlaması çıkaran bir program.</a:t>
              </a:r>
            </a:p>
            <a:p>
              <a:pPr algn="l" marL="561340" indent="-280670" lvl="1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Amacımız; herkesin kendi evinde, profesyonel bir desteğe ihtiyaç duymadan günlük ihtiyacını hesaplayabilmesi.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4729170" cy="10287000"/>
          </a:xfrm>
          <a:prstGeom prst="rect">
            <a:avLst/>
          </a:prstGeom>
          <a:solidFill>
            <a:srgbClr val="F7F4FA"/>
          </a:solid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991650" y="1378770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-10800000">
            <a:off x="641581" y="1028700"/>
            <a:ext cx="700140" cy="700140"/>
            <a:chOff x="1371600" y="6705600"/>
            <a:chExt cx="10972800" cy="1097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17161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991650" y="4774804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790961" y="6825913"/>
            <a:ext cx="1938209" cy="3461087"/>
          </a:xfrm>
          <a:custGeom>
            <a:avLst/>
            <a:gdLst/>
            <a:ahLst/>
            <a:cxnLst/>
            <a:rect r="r" b="b" t="t" l="l"/>
            <a:pathLst>
              <a:path h="3461087" w="1938209">
                <a:moveTo>
                  <a:pt x="1938209" y="0"/>
                </a:moveTo>
                <a:lnTo>
                  <a:pt x="0" y="0"/>
                </a:lnTo>
                <a:lnTo>
                  <a:pt x="0" y="3461087"/>
                </a:lnTo>
                <a:lnTo>
                  <a:pt x="1938209" y="3461087"/>
                </a:lnTo>
                <a:lnTo>
                  <a:pt x="19382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02191" y="1028700"/>
            <a:ext cx="257109" cy="376665"/>
          </a:xfrm>
          <a:custGeom>
            <a:avLst/>
            <a:gdLst/>
            <a:ahLst/>
            <a:cxnLst/>
            <a:rect r="r" b="b" t="t" l="l"/>
            <a:pathLst>
              <a:path h="376665" w="257109">
                <a:moveTo>
                  <a:pt x="0" y="0"/>
                </a:moveTo>
                <a:lnTo>
                  <a:pt x="257109" y="0"/>
                </a:lnTo>
                <a:lnTo>
                  <a:pt x="257109" y="376665"/>
                </a:lnTo>
                <a:lnTo>
                  <a:pt x="0" y="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25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69934" y="243187"/>
            <a:ext cx="8355984" cy="9800625"/>
          </a:xfrm>
          <a:prstGeom prst="rect">
            <a:avLst/>
          </a:prstGeom>
          <a:solidFill>
            <a:srgbClr val="F7F4F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56497" y="764904"/>
            <a:ext cx="7653025" cy="9424674"/>
            <a:chOff x="0" y="0"/>
            <a:chExt cx="10204034" cy="125662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24458" y="-85725"/>
              <a:ext cx="4124326" cy="937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76"/>
                </a:lnSpc>
                <a:spcBef>
                  <a:spcPct val="0"/>
                </a:spcBef>
              </a:pPr>
              <a:r>
                <a:rPr lang="en-US" b="true" sz="4269" u="none">
                  <a:solidFill>
                    <a:srgbClr val="17161C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Sorun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76392"/>
              <a:ext cx="10204034" cy="11289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5"/>
                </a:lnSpc>
                <a:spcBef>
                  <a:spcPct val="0"/>
                </a:spcBef>
              </a:pPr>
              <a:r>
                <a:rPr lang="en-US" sz="2732" u="none">
                  <a:solidFill>
                    <a:srgbClr val="17161C"/>
                  </a:solidFill>
                  <a:latin typeface="Roboto"/>
                  <a:ea typeface="Roboto"/>
                  <a:cs typeface="Roboto"/>
                  <a:sym typeface="Roboto"/>
                </a:rPr>
                <a:t>İnsanlar sağlıklı yaşamak veya fiziksel hedeflerine ulaşmak istediklerinde şu 3 ana sorunla karşılaşıyorlar:</a:t>
              </a:r>
            </a:p>
            <a:p>
              <a:pPr algn="l" marL="0" indent="0" lvl="0">
                <a:lnSpc>
                  <a:spcPts val="3825"/>
                </a:lnSpc>
                <a:spcBef>
                  <a:spcPct val="0"/>
                </a:spcBef>
              </a:pPr>
            </a:p>
            <a:p>
              <a:pPr algn="l" marL="589911" indent="-294955" lvl="1">
                <a:lnSpc>
                  <a:spcPts val="3825"/>
                </a:lnSpc>
                <a:spcBef>
                  <a:spcPct val="0"/>
                </a:spcBef>
                <a:buAutoNum type="arabicPeriod" startAt="1"/>
              </a:pPr>
              <a:r>
                <a:rPr lang="en-US" b="true" sz="2732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Bilgi Kirliliği: İnternette herkes farklı bir şey söylüyor, kişi kendi vücuduna uygun olanı seçemiyor.</a:t>
              </a:r>
            </a:p>
            <a:p>
              <a:pPr algn="l" marL="589911" indent="-294955" lvl="1">
                <a:lnSpc>
                  <a:spcPts val="4344"/>
                </a:lnSpc>
                <a:buAutoNum type="arabicPeriod" startAt="1"/>
              </a:pPr>
              <a:r>
                <a:rPr lang="en-US" b="true" sz="2732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Hesaplama Zorluğu: Kendi boyuna, kilosuna ve hareketliliğine göre kaç kalori alması gerektiğini matematiksel olarak hesaplamak karmaşık ve sıkıcı geliyor.</a:t>
              </a:r>
            </a:p>
            <a:p>
              <a:pPr algn="l" marL="589911" indent="-294955" lvl="1">
                <a:lnSpc>
                  <a:spcPts val="3825"/>
                </a:lnSpc>
                <a:spcBef>
                  <a:spcPct val="0"/>
                </a:spcBef>
                <a:buAutoNum type="arabicPeriod" startAt="1"/>
              </a:pPr>
              <a:r>
                <a:rPr lang="en-US" b="true" sz="2732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Harekete Geçememe: "2500 kalori almalısın" dendiğinde, bu kalorinin hangi yemekten geleceğini (ne kadar protein, ne kadar karbonhidrat) bilmedikleri için diyeti bırakıyorlar.</a:t>
              </a:r>
            </a:p>
            <a:p>
              <a:pPr algn="l" marL="0" indent="0" lvl="0">
                <a:lnSpc>
                  <a:spcPts val="38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44466" y="538476"/>
            <a:ext cx="225468" cy="225468"/>
            <a:chOff x="1371600" y="6705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44466" y="4149341"/>
            <a:ext cx="225468" cy="225468"/>
            <a:chOff x="1371600" y="6705600"/>
            <a:chExt cx="10972800" cy="1097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AutoShape 10" id="10"/>
          <p:cNvSpPr/>
          <p:nvPr/>
        </p:nvSpPr>
        <p:spPr>
          <a:xfrm rot="0">
            <a:off x="9272889" y="243187"/>
            <a:ext cx="7986411" cy="9800625"/>
          </a:xfrm>
          <a:prstGeom prst="rect">
            <a:avLst/>
          </a:prstGeom>
          <a:solidFill>
            <a:srgbClr val="F7F4FA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9468801" y="763944"/>
            <a:ext cx="7594587" cy="8716999"/>
            <a:chOff x="0" y="0"/>
            <a:chExt cx="10126116" cy="1162266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80439" y="-85725"/>
              <a:ext cx="5290743" cy="865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72"/>
                </a:lnSpc>
                <a:spcBef>
                  <a:spcPct val="0"/>
                </a:spcBef>
              </a:pPr>
              <a:r>
                <a:rPr lang="en-US" b="true" sz="3908" u="none">
                  <a:solidFill>
                    <a:srgbClr val="17161C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Çözüm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80377"/>
              <a:ext cx="10126116" cy="10342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0"/>
                </a:lnSpc>
              </a:pPr>
              <a:r>
                <a:rPr lang="en-US" sz="2586">
                  <a:solidFill>
                    <a:srgbClr val="17161C"/>
                  </a:solidFill>
                  <a:latin typeface="Roboto"/>
                  <a:ea typeface="Roboto"/>
                  <a:cs typeface="Roboto"/>
                  <a:sym typeface="Roboto"/>
                </a:rPr>
                <a:t>Biz bu zorlukları aşmak için, kullanıcı bilgilerini analiz eden ve buna uygun beslenme planı çıkaran bir Python uygulaması tasarladık.</a:t>
              </a:r>
            </a:p>
            <a:p>
              <a:pPr algn="l">
                <a:lnSpc>
                  <a:spcPts val="3620"/>
                </a:lnSpc>
              </a:pPr>
            </a:p>
            <a:p>
              <a:pPr algn="l" marL="558364" indent="-279182" lvl="1">
                <a:lnSpc>
                  <a:spcPts val="36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86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Kişiselleştirme: Herkese standart bir liste vermek yerine; kullanıcının yaşını, boyun</a:t>
              </a:r>
              <a:r>
                <a:rPr lang="en-US" b="true" sz="2586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u ve kilosunu alarak tamamen ona özel bir analiz yapıyoruz.</a:t>
              </a:r>
            </a:p>
            <a:p>
              <a:pPr algn="l" marL="558364" indent="-279182" lvl="1">
                <a:lnSpc>
                  <a:spcPts val="36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86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Otomatik Hesaplama: Kullanıcının uğraşmasına gerek kalmadan, arka planda çalışan algoritmalarla makro değerlerini (protein, yağ, karbonhidrat) hesaplıyoruz.</a:t>
              </a:r>
            </a:p>
            <a:p>
              <a:pPr algn="l" marL="558364" indent="-279182" lvl="1">
                <a:lnSpc>
                  <a:spcPts val="36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86" u="none">
                  <a:solidFill>
                    <a:srgbClr val="1716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Uygulanabilir Rehberlik: Sadece rakam verip bırakmıyoruz; bu rakamlara ulaşması için "Bugün şu öğünleri yiyebilirsin" diyerek kullanıcıya somut bir yol haritası sunuyoruz.</a:t>
              </a:r>
            </a:p>
            <a:p>
              <a:pPr algn="l" marL="0" indent="0" lvl="0">
                <a:lnSpc>
                  <a:spcPts val="36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028700" y="425742"/>
            <a:ext cx="225468" cy="225468"/>
            <a:chOff x="1371600" y="6705600"/>
            <a:chExt cx="10972800" cy="1097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496788" y="425742"/>
            <a:ext cx="225468" cy="225468"/>
            <a:chOff x="1371600" y="6705600"/>
            <a:chExt cx="10972800" cy="1097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387868" y="425742"/>
            <a:ext cx="225468" cy="225468"/>
            <a:chOff x="1371600" y="6705600"/>
            <a:chExt cx="10972800" cy="1097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6950654" y="425742"/>
            <a:ext cx="225468" cy="225468"/>
            <a:chOff x="1371600" y="6705600"/>
            <a:chExt cx="10972800" cy="1097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44466" y="8370177"/>
            <a:ext cx="225468" cy="225468"/>
            <a:chOff x="1371600" y="6705600"/>
            <a:chExt cx="10972800" cy="1097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8853" y="2210200"/>
            <a:ext cx="10171005" cy="243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17161C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Kullanılan Teknolojiler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97323" y="5133975"/>
            <a:ext cx="1666692" cy="5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7161C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Tkinter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630394" y="6907444"/>
            <a:ext cx="1892551" cy="3379556"/>
          </a:xfrm>
          <a:custGeom>
            <a:avLst/>
            <a:gdLst/>
            <a:ahLst/>
            <a:cxnLst/>
            <a:rect r="r" b="b" t="t" l="l"/>
            <a:pathLst>
              <a:path h="3379556" w="1892551">
                <a:moveTo>
                  <a:pt x="1892551" y="0"/>
                </a:moveTo>
                <a:lnTo>
                  <a:pt x="0" y="0"/>
                </a:lnTo>
                <a:lnTo>
                  <a:pt x="0" y="3379556"/>
                </a:lnTo>
                <a:lnTo>
                  <a:pt x="1892551" y="3379556"/>
                </a:lnTo>
                <a:lnTo>
                  <a:pt x="18925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28700" y="1378770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-10800000">
            <a:off x="1506055" y="1028700"/>
            <a:ext cx="700140" cy="700140"/>
            <a:chOff x="1371600" y="6705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1028700" y="4736704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02191" y="1028700"/>
            <a:ext cx="257109" cy="376665"/>
          </a:xfrm>
          <a:custGeom>
            <a:avLst/>
            <a:gdLst/>
            <a:ahLst/>
            <a:cxnLst/>
            <a:rect r="r" b="b" t="t" l="l"/>
            <a:pathLst>
              <a:path h="376665" w="257109">
                <a:moveTo>
                  <a:pt x="0" y="0"/>
                </a:moveTo>
                <a:lnTo>
                  <a:pt x="257109" y="0"/>
                </a:lnTo>
                <a:lnTo>
                  <a:pt x="257109" y="376665"/>
                </a:lnTo>
                <a:lnTo>
                  <a:pt x="0" y="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27999" y="5133975"/>
            <a:ext cx="1666692" cy="5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7161C"/>
                </a:solidFill>
                <a:latin typeface="Aileron Bold"/>
                <a:ea typeface="Aileron Bold"/>
                <a:cs typeface="Aileron Bold"/>
                <a:sym typeface="Aileron Bold"/>
              </a:rPr>
              <a:t>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1416" y="5133975"/>
            <a:ext cx="1666692" cy="5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7161C"/>
                </a:solidFill>
                <a:latin typeface="Aileron Bold"/>
                <a:ea typeface="Aileron Bold"/>
                <a:cs typeface="Aileron Bold"/>
                <a:sym typeface="Aileron Bold"/>
              </a:rPr>
              <a:t>MsSQL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97253" y="6166791"/>
            <a:ext cx="5097438" cy="5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7161C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CustomTkinter&gt;=5.2.0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9516" y="6166791"/>
            <a:ext cx="3508535" cy="5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7161C"/>
                </a:solidFill>
                <a:latin typeface="Aileron Bold"/>
                <a:ea typeface="Aileron Bold"/>
                <a:cs typeface="Aileron Bold"/>
                <a:sym typeface="Aileron Bold"/>
              </a:rPr>
              <a:t>Pyodbc&gt;=5.0.0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4890" y="2068194"/>
            <a:ext cx="11905252" cy="5612234"/>
            <a:chOff x="0" y="0"/>
            <a:chExt cx="15873669" cy="74829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2691676" cy="1621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599"/>
                </a:lnSpc>
              </a:pPr>
              <a:r>
                <a:rPr lang="en-US" sz="799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N</a:t>
              </a:r>
              <a:r>
                <a:rPr lang="en-US" sz="7999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asıl Bir Yol İzledik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21531"/>
              <a:ext cx="15873669" cy="5161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2647" indent="-296324" lvl="1">
                <a:lnSpc>
                  <a:spcPts val="3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45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Pl</a:t>
              </a:r>
              <a:r>
                <a:rPr lang="en-US" sz="2745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anlama: Önce hangi bilgileri almamız gerektiğini araştırıp programı üç ana bölüme ayırdık ve her hedefe özel ayrı hesaplamalar ekledik</a:t>
              </a:r>
            </a:p>
            <a:p>
              <a:pPr algn="l" marL="592647" indent="-296324" lvl="1">
                <a:lnSpc>
                  <a:spcPts val="3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45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Giriş Sistemi: Kullanıcıların güvenle giriş yapabileceği bir panel hazırladık.</a:t>
              </a:r>
            </a:p>
            <a:p>
              <a:pPr algn="l" marL="592647" indent="-296324" lvl="1">
                <a:lnSpc>
                  <a:spcPts val="3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45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Hesaplama Kısmı: Girilen bilgilere göre kalori miktarını bulan formülleri koda döktük.</a:t>
              </a:r>
            </a:p>
            <a:p>
              <a:pPr algn="l" marL="592647" indent="-296324" lvl="1">
                <a:lnSpc>
                  <a:spcPts val="3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45">
                  <a:solidFill>
                    <a:srgbClr val="F7F4FA"/>
                  </a:solidFill>
                  <a:latin typeface="Roboto"/>
                  <a:ea typeface="Roboto"/>
                  <a:cs typeface="Roboto"/>
                  <a:sym typeface="Roboto"/>
                </a:rPr>
                <a:t>Öneriler: Farklı kalori miktarlarına uygun sabah, öğle ve akşam yemeği seçenekleri ekledik.</a:t>
              </a:r>
            </a:p>
            <a:p>
              <a:pPr algn="l">
                <a:lnSpc>
                  <a:spcPts val="38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4729170" cy="10287000"/>
          </a:xfrm>
          <a:prstGeom prst="rect">
            <a:avLst/>
          </a:prstGeom>
          <a:solidFill>
            <a:srgbClr val="F7F4FA"/>
          </a:solid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816616" y="1378770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-10800000">
            <a:off x="2731365" y="1028700"/>
            <a:ext cx="700140" cy="700140"/>
            <a:chOff x="1371600" y="6705600"/>
            <a:chExt cx="10972800" cy="1097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17161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816616" y="4774804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2652" y="6825913"/>
            <a:ext cx="1938209" cy="3461087"/>
          </a:xfrm>
          <a:custGeom>
            <a:avLst/>
            <a:gdLst/>
            <a:ahLst/>
            <a:cxnLst/>
            <a:rect r="r" b="b" t="t" l="l"/>
            <a:pathLst>
              <a:path h="3461087" w="1938209">
                <a:moveTo>
                  <a:pt x="0" y="0"/>
                </a:moveTo>
                <a:lnTo>
                  <a:pt x="1938209" y="0"/>
                </a:lnTo>
                <a:lnTo>
                  <a:pt x="1938209" y="3461087"/>
                </a:lnTo>
                <a:lnTo>
                  <a:pt x="0" y="3461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02191" y="1028700"/>
            <a:ext cx="257109" cy="376665"/>
          </a:xfrm>
          <a:custGeom>
            <a:avLst/>
            <a:gdLst/>
            <a:ahLst/>
            <a:cxnLst/>
            <a:rect r="r" b="b" t="t" l="l"/>
            <a:pathLst>
              <a:path h="376665" w="257109">
                <a:moveTo>
                  <a:pt x="0" y="0"/>
                </a:moveTo>
                <a:lnTo>
                  <a:pt x="257109" y="0"/>
                </a:lnTo>
                <a:lnTo>
                  <a:pt x="257109" y="376665"/>
                </a:lnTo>
                <a:lnTo>
                  <a:pt x="0" y="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02191" y="8881635"/>
            <a:ext cx="257109" cy="376665"/>
          </a:xfrm>
          <a:custGeom>
            <a:avLst/>
            <a:gdLst/>
            <a:ahLst/>
            <a:cxnLst/>
            <a:rect r="r" b="b" t="t" l="l"/>
            <a:pathLst>
              <a:path h="376665" w="257109">
                <a:moveTo>
                  <a:pt x="0" y="0"/>
                </a:moveTo>
                <a:lnTo>
                  <a:pt x="257109" y="0"/>
                </a:lnTo>
                <a:lnTo>
                  <a:pt x="257109" y="376665"/>
                </a:lnTo>
                <a:lnTo>
                  <a:pt x="0" y="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41936" y="4581239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8" y="0"/>
                </a:lnTo>
                <a:lnTo>
                  <a:pt x="3095938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480320" y="7065688"/>
            <a:ext cx="700140" cy="700140"/>
            <a:chOff x="1371600" y="670560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true" rot="-10800000">
            <a:off x="16774023" y="0"/>
            <a:ext cx="1892551" cy="3379556"/>
          </a:xfrm>
          <a:custGeom>
            <a:avLst/>
            <a:gdLst/>
            <a:ahLst/>
            <a:cxnLst/>
            <a:rect r="r" b="b" t="t" l="l"/>
            <a:pathLst>
              <a:path h="3379556" w="1892551">
                <a:moveTo>
                  <a:pt x="0" y="3379556"/>
                </a:moveTo>
                <a:lnTo>
                  <a:pt x="1892551" y="3379556"/>
                </a:lnTo>
                <a:lnTo>
                  <a:pt x="1892551" y="0"/>
                </a:lnTo>
                <a:lnTo>
                  <a:pt x="0" y="0"/>
                </a:lnTo>
                <a:lnTo>
                  <a:pt x="0" y="337955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41936" y="1241572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8" y="0"/>
                </a:lnTo>
                <a:lnTo>
                  <a:pt x="3095938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9275" y="606261"/>
            <a:ext cx="10275007" cy="1906107"/>
            <a:chOff x="0" y="0"/>
            <a:chExt cx="13700010" cy="254147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13700010" cy="1305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5"/>
                </a:lnSpc>
              </a:pPr>
              <a:r>
                <a:rPr lang="en-US" sz="6538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Program Nası</a:t>
              </a:r>
              <a:r>
                <a:rPr lang="en-US" sz="6538" b="true">
                  <a:solidFill>
                    <a:srgbClr val="F7F4FA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l Çalışıyor?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91889"/>
              <a:ext cx="13700010" cy="749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11984" y="2576290"/>
            <a:ext cx="1335137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714">
                <a:solidFill>
                  <a:srgbClr val="F7F4FA"/>
                </a:solidFill>
                <a:latin typeface="Aileron"/>
                <a:ea typeface="Aileron"/>
                <a:cs typeface="Aileron"/>
                <a:sym typeface="Aileron"/>
              </a:rPr>
              <a:t>Uygulama açılır, kullanıcı giriş yapar veya yeni hesap açar.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69275" y="2681183"/>
            <a:ext cx="346643" cy="346643"/>
            <a:chOff x="1371600" y="6705600"/>
            <a:chExt cx="10972800" cy="1097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1984" y="3309715"/>
            <a:ext cx="1335137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714">
                <a:solidFill>
                  <a:srgbClr val="F7F4FA"/>
                </a:solidFill>
                <a:latin typeface="Aileron"/>
                <a:ea typeface="Aileron"/>
                <a:cs typeface="Aileron"/>
                <a:sym typeface="Aileron"/>
              </a:rPr>
              <a:t>Kullanıcıdan; Boy, Kilo, Yaş ve Hareket Durumu istenir.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69275" y="3414608"/>
            <a:ext cx="346643" cy="346643"/>
            <a:chOff x="1371600" y="6705600"/>
            <a:chExt cx="10972800" cy="1097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11984" y="4043140"/>
            <a:ext cx="1335137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714">
                <a:solidFill>
                  <a:srgbClr val="F7F4FA"/>
                </a:solidFill>
                <a:latin typeface="Aileron"/>
                <a:ea typeface="Aileron"/>
                <a:cs typeface="Aileron"/>
                <a:sym typeface="Aileron"/>
              </a:rPr>
              <a:t>Kullanıcı hedefini seçer (Örn: "Kilo vermek istiyorum").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69275" y="4148033"/>
            <a:ext cx="346643" cy="346643"/>
            <a:chOff x="1371600" y="6705600"/>
            <a:chExt cx="10972800" cy="1097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11984" y="4776565"/>
            <a:ext cx="1335137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714">
                <a:solidFill>
                  <a:srgbClr val="F7F4FA"/>
                </a:solidFill>
                <a:latin typeface="Aileron"/>
                <a:ea typeface="Aileron"/>
                <a:cs typeface="Aileron"/>
                <a:sym typeface="Aileron"/>
              </a:rPr>
              <a:t>Program kullanıcının bilgilerine göre hesap yapar </a:t>
            </a:r>
          </a:p>
          <a:p>
            <a:pPr algn="l">
              <a:lnSpc>
                <a:spcPts val="4457"/>
              </a:lnSpc>
            </a:pP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369275" y="4881458"/>
            <a:ext cx="346643" cy="346643"/>
            <a:chOff x="1371600" y="6705600"/>
            <a:chExt cx="10972800" cy="1097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11984" y="5509990"/>
            <a:ext cx="1335137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714">
                <a:solidFill>
                  <a:srgbClr val="F7F4FA"/>
                </a:solidFill>
                <a:latin typeface="Aileron"/>
                <a:ea typeface="Aileron"/>
                <a:cs typeface="Aileron"/>
                <a:sym typeface="Aileron"/>
              </a:rPr>
              <a:t>Kullanıcının hedefine uygun öğün önerilerini sıralar  ve aldığı kaloriyi hatta günlük içtiği su miktarına kadar takip edebileceği bi istatistik oluşturur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369275" y="5614883"/>
            <a:ext cx="346643" cy="346643"/>
            <a:chOff x="1371600" y="6705600"/>
            <a:chExt cx="10972800" cy="1097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198" y="4404026"/>
            <a:ext cx="17571603" cy="278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31" indent="-429166" lvl="1">
              <a:lnSpc>
                <a:spcPts val="5565"/>
              </a:lnSpc>
              <a:spcBef>
                <a:spcPct val="0"/>
              </a:spcBef>
              <a:buFont typeface="Arial"/>
              <a:buChar char="•"/>
            </a:pPr>
            <a:r>
              <a:rPr lang="en-US" sz="3975">
                <a:solidFill>
                  <a:srgbClr val="F7F4FA"/>
                </a:solidFill>
                <a:latin typeface="Roboto"/>
                <a:ea typeface="Roboto"/>
                <a:cs typeface="Roboto"/>
                <a:sym typeface="Roboto"/>
              </a:rPr>
              <a:t>Sonuç ol</a:t>
            </a:r>
            <a:r>
              <a:rPr lang="en-US" sz="3975">
                <a:solidFill>
                  <a:srgbClr val="F7F4FA"/>
                </a:solidFill>
                <a:latin typeface="Roboto"/>
                <a:ea typeface="Roboto"/>
                <a:cs typeface="Roboto"/>
                <a:sym typeface="Roboto"/>
              </a:rPr>
              <a:t>arak, basit bir arayüzle çalışan, hatasız hesaplama yapan ve kullanıcıya rehberlik eden bir uygulama ortaya çıkardık.</a:t>
            </a:r>
          </a:p>
          <a:p>
            <a:pPr algn="l" marL="858331" indent="-429166" lvl="1">
              <a:lnSpc>
                <a:spcPts val="5565"/>
              </a:lnSpc>
              <a:spcBef>
                <a:spcPct val="0"/>
              </a:spcBef>
              <a:buFont typeface="Arial"/>
              <a:buChar char="•"/>
            </a:pPr>
            <a:r>
              <a:rPr lang="en-US" sz="3975">
                <a:solidFill>
                  <a:srgbClr val="F7F4FA"/>
                </a:solidFill>
                <a:latin typeface="Roboto"/>
                <a:ea typeface="Roboto"/>
                <a:cs typeface="Roboto"/>
                <a:sym typeface="Roboto"/>
              </a:rPr>
              <a:t>Dinlediğiniz için teşekkürler, sorularınız varsa cevaplayabiliriz.</a:t>
            </a:r>
          </a:p>
          <a:p>
            <a:pPr algn="l">
              <a:lnSpc>
                <a:spcPts val="5565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03550"/>
            <a:ext cx="11491649" cy="121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7F4FA"/>
                </a:solidFill>
                <a:latin typeface="Aileron Bold"/>
                <a:ea typeface="Aileron Bold"/>
                <a:cs typeface="Aileron Bold"/>
                <a:sym typeface="Aileron Bold"/>
              </a:rPr>
              <a:t>Sonuç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-10800000">
            <a:off x="16395449" y="6907444"/>
            <a:ext cx="1892551" cy="3379556"/>
          </a:xfrm>
          <a:custGeom>
            <a:avLst/>
            <a:gdLst/>
            <a:ahLst/>
            <a:cxnLst/>
            <a:rect r="r" b="b" t="t" l="l"/>
            <a:pathLst>
              <a:path h="3379556" w="1892551">
                <a:moveTo>
                  <a:pt x="0" y="3379556"/>
                </a:moveTo>
                <a:lnTo>
                  <a:pt x="1892551" y="3379556"/>
                </a:lnTo>
                <a:lnTo>
                  <a:pt x="1892551" y="0"/>
                </a:lnTo>
                <a:lnTo>
                  <a:pt x="0" y="0"/>
                </a:lnTo>
                <a:lnTo>
                  <a:pt x="0" y="33795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219728" y="640239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-10800000">
            <a:off x="14618691" y="346536"/>
            <a:ext cx="700140" cy="700140"/>
            <a:chOff x="1371600" y="6705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255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14219728" y="8380846"/>
            <a:ext cx="3095939" cy="2879223"/>
          </a:xfrm>
          <a:custGeom>
            <a:avLst/>
            <a:gdLst/>
            <a:ahLst/>
            <a:cxnLst/>
            <a:rect r="r" b="b" t="t" l="l"/>
            <a:pathLst>
              <a:path h="2879223" w="3095939">
                <a:moveTo>
                  <a:pt x="0" y="0"/>
                </a:moveTo>
                <a:lnTo>
                  <a:pt x="3095939" y="0"/>
                </a:lnTo>
                <a:lnTo>
                  <a:pt x="3095939" y="2879223"/>
                </a:lnTo>
                <a:lnTo>
                  <a:pt x="0" y="287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DAG8IG405Fo</dc:identifier>
  <dcterms:modified xsi:type="dcterms:W3CDTF">2011-08-01T06:04:30Z</dcterms:modified>
  <cp:revision>1</cp:revision>
  <dc:title>Akıllı Yemek Planlama Sistemi</dc:title>
</cp:coreProperties>
</file>